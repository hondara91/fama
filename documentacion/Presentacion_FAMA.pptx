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2"/>
    <p:sldId id="257" r:id="rId3"/>
    <p:sldId id="256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774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989320"/>
            <a:ext cx="12191695" cy="76200"/>
          </a:xfrm>
          <a:prstGeom prst="rect">
            <a:avLst/>
          </a:prstGeom>
          <a:solidFill>
            <a:srgbClr val="C8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prstClr val="white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7871" y="647171"/>
            <a:ext cx="12191695" cy="43396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s-ES" sz="6000" b="1" dirty="0" smtClean="0">
                <a:solidFill>
                  <a:srgbClr val="FFFFFF"/>
                </a:solidFill>
              </a:rPr>
              <a:t>Presentación del equipo:</a:t>
            </a:r>
          </a:p>
          <a:p>
            <a:pPr algn="ctr"/>
            <a:endParaRPr lang="es-ES" sz="5400" b="1" dirty="0" smtClean="0">
              <a:solidFill>
                <a:srgbClr val="FFFFFF"/>
              </a:solidFill>
            </a:endParaRPr>
          </a:p>
          <a:p>
            <a:pPr algn="ctr"/>
            <a:r>
              <a:rPr lang="es-ES" sz="5400" b="1" dirty="0" smtClean="0">
                <a:solidFill>
                  <a:srgbClr val="FFFFFF"/>
                </a:solidFill>
              </a:rPr>
              <a:t>Manuel Ruíz-</a:t>
            </a:r>
            <a:r>
              <a:rPr lang="es-ES" sz="5400" b="1" dirty="0" err="1" smtClean="0">
                <a:solidFill>
                  <a:srgbClr val="FFFFFF"/>
                </a:solidFill>
              </a:rPr>
              <a:t>Henestrosa</a:t>
            </a:r>
            <a:r>
              <a:rPr lang="es-ES" sz="5400" b="1" dirty="0" smtClean="0">
                <a:solidFill>
                  <a:srgbClr val="FFFFFF"/>
                </a:solidFill>
              </a:rPr>
              <a:t> Sánchez</a:t>
            </a:r>
          </a:p>
          <a:p>
            <a:pPr algn="ctr"/>
            <a:r>
              <a:rPr lang="es-ES" sz="5400" b="1" dirty="0" err="1" smtClean="0">
                <a:solidFill>
                  <a:srgbClr val="FFFFFF"/>
                </a:solidFill>
              </a:rPr>
              <a:t>Jose</a:t>
            </a:r>
            <a:r>
              <a:rPr lang="es-ES" sz="5400" b="1" dirty="0" smtClean="0">
                <a:solidFill>
                  <a:srgbClr val="FFFFFF"/>
                </a:solidFill>
              </a:rPr>
              <a:t> Antonio Rodríguez Salazar</a:t>
            </a:r>
          </a:p>
          <a:p>
            <a:pPr algn="ctr"/>
            <a:r>
              <a:rPr lang="es-ES" sz="5400" b="1" dirty="0" smtClean="0">
                <a:solidFill>
                  <a:srgbClr val="FFFFFF"/>
                </a:solidFill>
              </a:rPr>
              <a:t>Hugo Ondicol Aragonés</a:t>
            </a:r>
            <a:endParaRPr sz="5400" b="1" dirty="0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612648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>
                <a:solidFill>
                  <a:srgbClr val="CCD6E4"/>
                </a:solidFill>
              </a:rPr>
              <a:t>Plataforma web de apoyo al personal de la Armada Española</a:t>
            </a:r>
          </a:p>
        </p:txBody>
      </p:sp>
    </p:spTree>
    <p:extLst>
      <p:ext uri="{BB962C8B-B14F-4D97-AF65-F5344CB8AC3E}">
        <p14:creationId xmlns:p14="http://schemas.microsoft.com/office/powerpoint/2010/main" val="831502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8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El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274320"/>
            <a:ext cx="2194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C8A900"/>
                </a:solidFill>
                <a:latin typeface="Calibri"/>
              </a:rPr>
              <a:t>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00"/>
              </a:spcAft>
            </a:pPr>
            <a:r>
              <a:rPr sz="2000" b="1">
                <a:solidFill>
                  <a:srgbClr val="C8A900"/>
                </a:solidFill>
                <a:latin typeface="Calibri"/>
              </a:rPr>
              <a:t>■  </a:t>
            </a:r>
            <a:r>
              <a:rPr sz="2000">
                <a:solidFill>
                  <a:srgbClr val="212121"/>
                </a:solidFill>
                <a:latin typeface="Calibri"/>
              </a:rPr>
              <a:t>La movilidad geográfica es constante en la carrera naval: destinos, comisiones, cursos y maniobras.</a:t>
            </a:r>
          </a:p>
          <a:p>
            <a:pPr algn="l">
              <a:spcAft>
                <a:spcPts val="2200"/>
              </a:spcAft>
            </a:pPr>
            <a:r>
              <a:rPr sz="2000" b="1">
                <a:solidFill>
                  <a:srgbClr val="C8A900"/>
                </a:solidFill>
                <a:latin typeface="Calibri"/>
              </a:rPr>
              <a:t>■  </a:t>
            </a:r>
            <a:r>
              <a:rPr sz="2000">
                <a:solidFill>
                  <a:srgbClr val="212121"/>
                </a:solidFill>
                <a:latin typeface="Calibri"/>
              </a:rPr>
              <a:t>El tablón de anuncios oficial está infrautilizado y casi solo cubre el alquiler de vivienda.</a:t>
            </a:r>
          </a:p>
          <a:p>
            <a:pPr algn="l">
              <a:spcAft>
                <a:spcPts val="2200"/>
              </a:spcAft>
            </a:pPr>
            <a:r>
              <a:rPr sz="2000" b="1">
                <a:solidFill>
                  <a:srgbClr val="C8A900"/>
                </a:solidFill>
                <a:latin typeface="Calibri"/>
              </a:rPr>
              <a:t>■  </a:t>
            </a:r>
            <a:r>
              <a:rPr sz="2000">
                <a:solidFill>
                  <a:srgbClr val="212121"/>
                </a:solidFill>
                <a:latin typeface="Calibri"/>
              </a:rPr>
              <a:t>La información relevante se dispersa en grupos de WhatsApp/Telegram y foros no oficiales, poco fiables.</a:t>
            </a:r>
          </a:p>
          <a:p>
            <a:pPr algn="l">
              <a:spcAft>
                <a:spcPts val="2200"/>
              </a:spcAft>
            </a:pPr>
            <a:r>
              <a:rPr sz="2000" b="1">
                <a:solidFill>
                  <a:srgbClr val="C8A900"/>
                </a:solidFill>
                <a:latin typeface="Calibri"/>
              </a:rPr>
              <a:t>■  </a:t>
            </a:r>
            <a:r>
              <a:rPr sz="2000">
                <a:solidFill>
                  <a:srgbClr val="212121"/>
                </a:solidFill>
                <a:latin typeface="Calibri"/>
              </a:rPr>
              <a:t>No existe un canal único, seguro y moderado para vivienda, movilidad, servicios, compraventa y ocio.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FAMA — Foro de Apoyo Multipropósito de la Armada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989320"/>
            <a:ext cx="12191695" cy="76200"/>
          </a:xfrm>
          <a:prstGeom prst="rect">
            <a:avLst/>
          </a:prstGeom>
          <a:solidFill>
            <a:srgbClr val="C8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fama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1322" y="502920"/>
            <a:ext cx="5849050" cy="3291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3977639"/>
            <a:ext cx="121916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Calibri"/>
              </a:rPr>
              <a:t>FAMA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709160"/>
            <a:ext cx="12191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C8A900"/>
                </a:solidFill>
                <a:latin typeface="Calibri"/>
              </a:rPr>
              <a:t>Foro de Apoyo Multipropósito de la Armada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12648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CCD6E4"/>
                </a:solidFill>
                <a:latin typeface="Calibri"/>
              </a:rPr>
              <a:t>Plataforma web de apoyo al personal de la Armada Española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8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La solución: FAMA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274320"/>
            <a:ext cx="2194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C8A900"/>
                </a:solidFill>
                <a:latin typeface="Calibri"/>
              </a:rPr>
              <a:t>PROPÓSITO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003366"/>
                </a:solidFill>
                <a:latin typeface="Calibri"/>
              </a:rPr>
              <a:t>Una única plataforma web que centraliza, de forma segura y moderada, las necesidades cotidianas del personal de la Armada.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10881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00"/>
              </a:spcAft>
            </a:pPr>
            <a:r>
              <a:rPr sz="2000" b="1">
                <a:solidFill>
                  <a:srgbClr val="C8A900"/>
                </a:solidFill>
                <a:latin typeface="Calibri"/>
              </a:rPr>
              <a:t>■  </a:t>
            </a:r>
            <a:r>
              <a:rPr sz="2000">
                <a:solidFill>
                  <a:srgbClr val="212121"/>
                </a:solidFill>
                <a:latin typeface="Calibri"/>
              </a:rPr>
              <a:t>Sustituye y amplía de forma significativa el Tablón de Anuncios actual.</a:t>
            </a:r>
          </a:p>
          <a:p>
            <a:pPr algn="l">
              <a:spcAft>
                <a:spcPts val="2200"/>
              </a:spcAft>
            </a:pPr>
            <a:r>
              <a:rPr sz="2000" b="1">
                <a:solidFill>
                  <a:srgbClr val="C8A900"/>
                </a:solidFill>
                <a:latin typeface="Calibri"/>
              </a:rPr>
              <a:t>■  </a:t>
            </a:r>
            <a:r>
              <a:rPr sz="2000">
                <a:solidFill>
                  <a:srgbClr val="212121"/>
                </a:solidFill>
                <a:latin typeface="Calibri"/>
              </a:rPr>
              <a:t>Acceso regulado por roles que garantiza la calidad y trazabilidad del contenido.</a:t>
            </a:r>
          </a:p>
          <a:p>
            <a:pPr algn="l">
              <a:spcAft>
                <a:spcPts val="2200"/>
              </a:spcAft>
            </a:pPr>
            <a:r>
              <a:rPr sz="2000" b="1">
                <a:solidFill>
                  <a:srgbClr val="C8A900"/>
                </a:solidFill>
                <a:latin typeface="Calibri"/>
              </a:rPr>
              <a:t>■  </a:t>
            </a:r>
            <a:r>
              <a:rPr sz="2000">
                <a:solidFill>
                  <a:srgbClr val="212121"/>
                </a:solidFill>
                <a:latin typeface="Calibri"/>
              </a:rPr>
              <a:t>Pensada para desplegarse primero en la Intranet corporativa (I3D).</a:t>
            </a:r>
          </a:p>
          <a:p>
            <a:pPr algn="l">
              <a:spcAft>
                <a:spcPts val="2200"/>
              </a:spcAft>
            </a:pPr>
            <a:r>
              <a:rPr sz="2000" b="1">
                <a:solidFill>
                  <a:srgbClr val="C8A900"/>
                </a:solidFill>
                <a:latin typeface="Calibri"/>
              </a:rPr>
              <a:t>■  </a:t>
            </a:r>
            <a:r>
              <a:rPr sz="2000">
                <a:solidFill>
                  <a:srgbClr val="212121"/>
                </a:solidFill>
                <a:latin typeface="Calibri"/>
              </a:rPr>
              <a:t>Diseño escalable, con hoja de ruta hacia Internet y aplicación móvil.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FAMA — Foro de Apoyo Multipropósito de la Armada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8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Módulos funcionales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274320"/>
            <a:ext cx="2194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C8A900"/>
                </a:solidFill>
                <a:latin typeface="Calibri"/>
              </a:rPr>
              <a:t>QUÉ OFRECE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3454298" cy="2331720"/>
          </a:xfrm>
          <a:prstGeom prst="rect">
            <a:avLst/>
          </a:prstGeom>
          <a:solidFill>
            <a:srgbClr val="F8F9FA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3454298" cy="109728"/>
          </a:xfrm>
          <a:prstGeom prst="rect">
            <a:avLst/>
          </a:prstGeom>
          <a:solidFill>
            <a:srgbClr val="C8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299709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03366"/>
                </a:solidFill>
                <a:latin typeface="Calibri"/>
              </a:rPr>
              <a:t>Vivienda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77440"/>
            <a:ext cx="299709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212121"/>
                </a:solidFill>
                <a:latin typeface="Calibri"/>
              </a:rPr>
              <a:t>Alquiler, compartir piso e intercambio vacacional.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8698" y="1508760"/>
            <a:ext cx="3454298" cy="2331720"/>
          </a:xfrm>
          <a:prstGeom prst="rect">
            <a:avLst/>
          </a:prstGeom>
          <a:solidFill>
            <a:srgbClr val="F8F9FA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68698" y="1508760"/>
            <a:ext cx="3454298" cy="109728"/>
          </a:xfrm>
          <a:prstGeom prst="rect">
            <a:avLst/>
          </a:prstGeom>
          <a:solidFill>
            <a:srgbClr val="C8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7298" y="1783080"/>
            <a:ext cx="299709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03366"/>
                </a:solidFill>
                <a:latin typeface="Calibri"/>
              </a:rPr>
              <a:t>Movilidad y Servicios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377440"/>
            <a:ext cx="299709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212121"/>
                </a:solidFill>
                <a:latin typeface="Calibri"/>
              </a:rPr>
              <a:t>Viajes compartidos y bolsa de servicios entre compañeros.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7316" y="1508760"/>
            <a:ext cx="3454298" cy="2331720"/>
          </a:xfrm>
          <a:prstGeom prst="rect">
            <a:avLst/>
          </a:prstGeom>
          <a:solidFill>
            <a:srgbClr val="F8F9FA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7316" y="1508760"/>
            <a:ext cx="3454298" cy="109728"/>
          </a:xfrm>
          <a:prstGeom prst="rect">
            <a:avLst/>
          </a:prstGeom>
          <a:solidFill>
            <a:srgbClr val="C8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5916" y="1783080"/>
            <a:ext cx="299709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03366"/>
                </a:solidFill>
                <a:latin typeface="Calibri"/>
              </a:rPr>
              <a:t>Compraventa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5916" y="2377440"/>
            <a:ext cx="299709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212121"/>
                </a:solidFill>
                <a:latin typeface="Calibri"/>
              </a:rPr>
              <a:t>Segunda mano entre el personal y merchandising oficial por unidad.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114800"/>
            <a:ext cx="3454298" cy="2331720"/>
          </a:xfrm>
          <a:prstGeom prst="rect">
            <a:avLst/>
          </a:prstGeom>
          <a:solidFill>
            <a:srgbClr val="F8F9FA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4114800"/>
            <a:ext cx="3454298" cy="109728"/>
          </a:xfrm>
          <a:prstGeom prst="rect">
            <a:avLst/>
          </a:prstGeom>
          <a:solidFill>
            <a:srgbClr val="C8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4389120"/>
            <a:ext cx="299709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03366"/>
                </a:solidFill>
                <a:latin typeface="Calibri"/>
              </a:rPr>
              <a:t>Ocio y Eventos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983480"/>
            <a:ext cx="299709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212121"/>
                </a:solidFill>
                <a:latin typeface="Calibri"/>
              </a:rPr>
              <a:t>Eventos deportivos, culturales y libres, con inscripción.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68698" y="4114800"/>
            <a:ext cx="3454298" cy="2331720"/>
          </a:xfrm>
          <a:prstGeom prst="rect">
            <a:avLst/>
          </a:prstGeom>
          <a:solidFill>
            <a:srgbClr val="F8F9FA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68698" y="4114800"/>
            <a:ext cx="3454298" cy="109728"/>
          </a:xfrm>
          <a:prstGeom prst="rect">
            <a:avLst/>
          </a:prstGeom>
          <a:solidFill>
            <a:srgbClr val="C8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97298" y="4389120"/>
            <a:ext cx="299709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03366"/>
                </a:solidFill>
                <a:latin typeface="Calibri"/>
              </a:rPr>
              <a:t>Novedades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7298" y="4983480"/>
            <a:ext cx="299709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212121"/>
                </a:solidFill>
                <a:latin typeface="Calibri"/>
              </a:rPr>
              <a:t>Canal oficial: cursos, comisiones, BOD/BOE.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97316" y="4114800"/>
            <a:ext cx="3454298" cy="2331720"/>
          </a:xfrm>
          <a:prstGeom prst="rect">
            <a:avLst/>
          </a:prstGeom>
          <a:solidFill>
            <a:srgbClr val="F8F9FA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97316" y="4114800"/>
            <a:ext cx="3454298" cy="109728"/>
          </a:xfrm>
          <a:prstGeom prst="rect">
            <a:avLst/>
          </a:prstGeom>
          <a:solidFill>
            <a:srgbClr val="C8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25916" y="4389120"/>
            <a:ext cx="299709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03366"/>
                </a:solidFill>
                <a:latin typeface="Calibri"/>
              </a:rPr>
              <a:t>Foro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5916" y="4983480"/>
            <a:ext cx="299709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212121"/>
                </a:solidFill>
                <a:latin typeface="Calibri"/>
              </a:rPr>
              <a:t>Espacio de consulta y debate moderado por gestores.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FAMA — Foro de Apoyo Multipropósito de la Armada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8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Roles y seguridad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274320"/>
            <a:ext cx="2194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C8A900"/>
                </a:solidFill>
                <a:latin typeface="Calibri"/>
              </a:rPr>
              <a:t>CONTROL DE ACCESO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03366"/>
                </a:solidFill>
                <a:latin typeface="Calibri"/>
              </a:rPr>
              <a:t>Tres roles, privilegios crecientes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sz="1800" b="1">
                <a:solidFill>
                  <a:srgbClr val="C8A900"/>
                </a:solidFill>
                <a:latin typeface="Calibri"/>
              </a:rPr>
              <a:t>■  </a:t>
            </a:r>
            <a:r>
              <a:rPr sz="1800">
                <a:solidFill>
                  <a:srgbClr val="212121"/>
                </a:solidFill>
                <a:latin typeface="Calibri"/>
              </a:rPr>
              <a:t>Usuario: publica y gestiona sus propios anuncios.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C8A900"/>
                </a:solidFill>
                <a:latin typeface="Calibri"/>
              </a:rPr>
              <a:t>■  </a:t>
            </a:r>
            <a:r>
              <a:rPr sz="1800">
                <a:solidFill>
                  <a:srgbClr val="212121"/>
                </a:solidFill>
                <a:latin typeface="Calibri"/>
              </a:rPr>
              <a:t>Gestor: modera contenido, edita anuncios y novedades.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C8A900"/>
                </a:solidFill>
                <a:latin typeface="Calibri"/>
              </a:rPr>
              <a:t>■  </a:t>
            </a:r>
            <a:r>
              <a:rPr sz="1800">
                <a:solidFill>
                  <a:srgbClr val="212121"/>
                </a:solidFill>
                <a:latin typeface="Calibri"/>
              </a:rPr>
              <a:t>Administrador: gestión total de usuarios, roles y anuncios.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417320"/>
            <a:ext cx="5394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03366"/>
                </a:solidFill>
                <a:latin typeface="Calibri"/>
              </a:rPr>
              <a:t>Seguridad por diseño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92024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sz="1800" b="1" dirty="0">
                <a:solidFill>
                  <a:srgbClr val="C8A900"/>
                </a:solidFill>
                <a:latin typeface="Calibri"/>
              </a:rPr>
              <a:t>■  </a:t>
            </a:r>
            <a:r>
              <a:rPr sz="1800" dirty="0" err="1">
                <a:solidFill>
                  <a:srgbClr val="212121"/>
                </a:solidFill>
                <a:latin typeface="Calibri"/>
              </a:rPr>
              <a:t>Contraseñas</a:t>
            </a:r>
            <a:r>
              <a:rPr sz="1800" dirty="0">
                <a:solidFill>
                  <a:srgbClr val="212121"/>
                </a:solidFill>
                <a:latin typeface="Calibri"/>
              </a:rPr>
              <a:t> con hash </a:t>
            </a:r>
            <a:r>
              <a:rPr sz="1800" dirty="0" err="1">
                <a:solidFill>
                  <a:srgbClr val="212121"/>
                </a:solidFill>
                <a:latin typeface="Calibri"/>
              </a:rPr>
              <a:t>seguro</a:t>
            </a:r>
            <a:r>
              <a:rPr sz="1800" dirty="0">
                <a:solidFill>
                  <a:srgbClr val="212121"/>
                </a:solidFill>
                <a:latin typeface="Calibri"/>
              </a:rPr>
              <a:t> (</a:t>
            </a:r>
            <a:r>
              <a:rPr sz="1800" dirty="0" err="1">
                <a:solidFill>
                  <a:srgbClr val="212121"/>
                </a:solidFill>
                <a:latin typeface="Calibri"/>
              </a:rPr>
              <a:t>Werkzeug</a:t>
            </a:r>
            <a:r>
              <a:rPr sz="1800" dirty="0">
                <a:solidFill>
                  <a:srgbClr val="212121"/>
                </a:solidFill>
                <a:latin typeface="Calibri"/>
              </a:rPr>
              <a:t>); </a:t>
            </a:r>
            <a:r>
              <a:rPr sz="1800" dirty="0" err="1">
                <a:solidFill>
                  <a:srgbClr val="212121"/>
                </a:solidFill>
                <a:latin typeface="Calibri"/>
              </a:rPr>
              <a:t>nunca</a:t>
            </a:r>
            <a:r>
              <a:rPr sz="1800" dirty="0">
                <a:solidFill>
                  <a:srgbClr val="212121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212121"/>
                </a:solidFill>
                <a:latin typeface="Calibri"/>
              </a:rPr>
              <a:t>texto</a:t>
            </a:r>
            <a:r>
              <a:rPr sz="1800" dirty="0">
                <a:solidFill>
                  <a:srgbClr val="212121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212121"/>
                </a:solidFill>
                <a:latin typeface="Calibri"/>
              </a:rPr>
              <a:t>plano</a:t>
            </a:r>
            <a:r>
              <a:rPr sz="1800" dirty="0">
                <a:solidFill>
                  <a:srgbClr val="212121"/>
                </a:solidFill>
                <a:latin typeface="Calibri"/>
              </a:rPr>
              <a:t>.</a:t>
            </a:r>
          </a:p>
          <a:p>
            <a:pPr algn="l">
              <a:spcAft>
                <a:spcPts val="1800"/>
              </a:spcAft>
            </a:pPr>
            <a:r>
              <a:rPr sz="1800" b="1" dirty="0">
                <a:solidFill>
                  <a:srgbClr val="C8A900"/>
                </a:solidFill>
                <a:latin typeface="Calibri"/>
              </a:rPr>
              <a:t>■  </a:t>
            </a:r>
            <a:r>
              <a:rPr sz="1800" dirty="0">
                <a:solidFill>
                  <a:srgbClr val="212121"/>
                </a:solidFill>
                <a:latin typeface="Calibri"/>
              </a:rPr>
              <a:t>Alta de </a:t>
            </a:r>
            <a:r>
              <a:rPr sz="1800" dirty="0" err="1">
                <a:solidFill>
                  <a:srgbClr val="212121"/>
                </a:solidFill>
                <a:latin typeface="Calibri"/>
              </a:rPr>
              <a:t>usuarios</a:t>
            </a:r>
            <a:r>
              <a:rPr sz="1800" dirty="0">
                <a:solidFill>
                  <a:srgbClr val="212121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212121"/>
                </a:solidFill>
                <a:latin typeface="Calibri"/>
              </a:rPr>
              <a:t>validada</a:t>
            </a:r>
            <a:r>
              <a:rPr sz="1800" dirty="0">
                <a:solidFill>
                  <a:srgbClr val="212121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212121"/>
                </a:solidFill>
                <a:latin typeface="Calibri"/>
              </a:rPr>
              <a:t>por</a:t>
            </a:r>
            <a:r>
              <a:rPr sz="1800" dirty="0">
                <a:solidFill>
                  <a:srgbClr val="212121"/>
                </a:solidFill>
                <a:latin typeface="Calibri"/>
              </a:rPr>
              <a:t> un </a:t>
            </a:r>
            <a:r>
              <a:rPr sz="1800" dirty="0" err="1">
                <a:solidFill>
                  <a:srgbClr val="212121"/>
                </a:solidFill>
                <a:latin typeface="Calibri"/>
              </a:rPr>
              <a:t>administrador</a:t>
            </a:r>
            <a:r>
              <a:rPr sz="1800" dirty="0">
                <a:solidFill>
                  <a:srgbClr val="212121"/>
                </a:solidFill>
                <a:latin typeface="Calibri"/>
              </a:rPr>
              <a:t>.</a:t>
            </a:r>
          </a:p>
          <a:p>
            <a:pPr algn="l">
              <a:spcAft>
                <a:spcPts val="1800"/>
              </a:spcAft>
            </a:pPr>
            <a:r>
              <a:rPr sz="1800" b="1" dirty="0">
                <a:solidFill>
                  <a:srgbClr val="C8A900"/>
                </a:solidFill>
                <a:latin typeface="Calibri"/>
              </a:rPr>
              <a:t>■  </a:t>
            </a:r>
            <a:r>
              <a:rPr sz="1800" dirty="0" err="1">
                <a:solidFill>
                  <a:srgbClr val="212121"/>
                </a:solidFill>
                <a:latin typeface="Calibri"/>
              </a:rPr>
              <a:t>Permisos</a:t>
            </a:r>
            <a:r>
              <a:rPr sz="1800" dirty="0">
                <a:solidFill>
                  <a:srgbClr val="212121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212121"/>
                </a:solidFill>
                <a:latin typeface="Calibri"/>
              </a:rPr>
              <a:t>comprobados</a:t>
            </a:r>
            <a:r>
              <a:rPr sz="1800" dirty="0">
                <a:solidFill>
                  <a:srgbClr val="212121"/>
                </a:solidFill>
                <a:latin typeface="Calibri"/>
              </a:rPr>
              <a:t> en </a:t>
            </a:r>
            <a:r>
              <a:rPr sz="1800" dirty="0" err="1">
                <a:solidFill>
                  <a:srgbClr val="212121"/>
                </a:solidFill>
                <a:latin typeface="Calibri"/>
              </a:rPr>
              <a:t>cada</a:t>
            </a:r>
            <a:r>
              <a:rPr sz="1800" dirty="0">
                <a:solidFill>
                  <a:srgbClr val="212121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212121"/>
                </a:solidFill>
                <a:latin typeface="Calibri"/>
              </a:rPr>
              <a:t>ruta</a:t>
            </a:r>
            <a:r>
              <a:rPr sz="1800" dirty="0">
                <a:solidFill>
                  <a:srgbClr val="212121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212121"/>
                </a:solidFill>
                <a:latin typeface="Calibri"/>
              </a:rPr>
              <a:t>según</a:t>
            </a:r>
            <a:r>
              <a:rPr sz="1800" dirty="0">
                <a:solidFill>
                  <a:srgbClr val="212121"/>
                </a:solidFill>
                <a:latin typeface="Calibri"/>
              </a:rPr>
              <a:t> el </a:t>
            </a:r>
            <a:r>
              <a:rPr sz="1800" dirty="0" err="1">
                <a:solidFill>
                  <a:srgbClr val="212121"/>
                </a:solidFill>
                <a:latin typeface="Calibri"/>
              </a:rPr>
              <a:t>rol</a:t>
            </a:r>
            <a:r>
              <a:rPr sz="1800" dirty="0">
                <a:solidFill>
                  <a:srgbClr val="212121"/>
                </a:solidFill>
                <a:latin typeface="Calibri"/>
              </a:rPr>
              <a:t>.</a:t>
            </a:r>
          </a:p>
          <a:p>
            <a:pPr algn="l">
              <a:spcAft>
                <a:spcPts val="1800"/>
              </a:spcAft>
            </a:pPr>
            <a:r>
              <a:rPr sz="1800" b="1" dirty="0">
                <a:solidFill>
                  <a:srgbClr val="C8A900"/>
                </a:solidFill>
                <a:latin typeface="Calibri"/>
              </a:rPr>
              <a:t>■  </a:t>
            </a:r>
            <a:r>
              <a:rPr sz="1800" dirty="0" err="1">
                <a:solidFill>
                  <a:srgbClr val="212121"/>
                </a:solidFill>
                <a:latin typeface="Calibri"/>
              </a:rPr>
              <a:t>Cambio</a:t>
            </a:r>
            <a:r>
              <a:rPr sz="1800" dirty="0">
                <a:solidFill>
                  <a:srgbClr val="212121"/>
                </a:solidFill>
                <a:latin typeface="Calibri"/>
              </a:rPr>
              <a:t> de </a:t>
            </a:r>
            <a:r>
              <a:rPr sz="1800" dirty="0" err="1">
                <a:solidFill>
                  <a:srgbClr val="212121"/>
                </a:solidFill>
                <a:latin typeface="Calibri"/>
              </a:rPr>
              <a:t>contraseña</a:t>
            </a:r>
            <a:r>
              <a:rPr sz="1800" dirty="0">
                <a:solidFill>
                  <a:srgbClr val="212121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212121"/>
                </a:solidFill>
                <a:latin typeface="Calibri"/>
              </a:rPr>
              <a:t>obligatorio</a:t>
            </a:r>
            <a:r>
              <a:rPr sz="1800" dirty="0">
                <a:solidFill>
                  <a:srgbClr val="212121"/>
                </a:solidFill>
                <a:latin typeface="Calibri"/>
              </a:rPr>
              <a:t> </a:t>
            </a:r>
            <a:r>
              <a:rPr sz="1800" dirty="0" err="1">
                <a:solidFill>
                  <a:srgbClr val="212121"/>
                </a:solidFill>
                <a:latin typeface="Calibri"/>
              </a:rPr>
              <a:t>tras</a:t>
            </a:r>
            <a:r>
              <a:rPr sz="1800" dirty="0">
                <a:solidFill>
                  <a:srgbClr val="212121"/>
                </a:solidFill>
                <a:latin typeface="Calibri"/>
              </a:rPr>
              <a:t> un </a:t>
            </a:r>
            <a:r>
              <a:rPr sz="1800" dirty="0" err="1">
                <a:solidFill>
                  <a:srgbClr val="212121"/>
                </a:solidFill>
                <a:latin typeface="Calibri"/>
              </a:rPr>
              <a:t>reseteo</a:t>
            </a:r>
            <a:r>
              <a:rPr sz="1800" dirty="0">
                <a:solidFill>
                  <a:srgbClr val="212121"/>
                </a:solidFill>
                <a:latin typeface="Calibri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FAMA — Foro de Apoyo Multipropósito de la Armada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8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Arquitectura del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274320"/>
            <a:ext cx="2194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C8A900"/>
                </a:solidFill>
                <a:latin typeface="Calibri"/>
              </a:rPr>
              <a:t>DISEÑO TÉCNICO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03366"/>
                </a:solidFill>
                <a:latin typeface="Calibri"/>
              </a:rPr>
              <a:t>Arquitectura monolítica MVC: un único proyecto, fácil de desplegar y mantener.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5167" y="2468880"/>
            <a:ext cx="3291840" cy="1371600"/>
          </a:xfrm>
          <a:prstGeom prst="rect">
            <a:avLst/>
          </a:prstGeom>
          <a:solidFill>
            <a:srgbClr val="005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2327" y="2633472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327" y="3090672"/>
            <a:ext cx="3017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HTML5 + Jinja2 + Bootstrap 5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992727" y="2971800"/>
            <a:ext cx="411480" cy="365760"/>
          </a:xfrm>
          <a:prstGeom prst="rightArrow">
            <a:avLst/>
          </a:prstGeom>
          <a:solidFill>
            <a:srgbClr val="C8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49927" y="2468880"/>
            <a:ext cx="3291840" cy="137160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7087" y="2633472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7087" y="3090672"/>
            <a:ext cx="3017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F8F9FA"/>
                </a:solidFill>
                <a:latin typeface="Calibri"/>
              </a:rPr>
              <a:t>Python + Flask (lógica, roles, rutas)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787487" y="2971800"/>
            <a:ext cx="411480" cy="365760"/>
          </a:xfrm>
          <a:prstGeom prst="rightArrow">
            <a:avLst/>
          </a:prstGeom>
          <a:solidFill>
            <a:srgbClr val="C8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44687" y="2468880"/>
            <a:ext cx="3291840" cy="1371600"/>
          </a:xfrm>
          <a:prstGeom prst="rect">
            <a:avLst/>
          </a:prstGeom>
          <a:solidFill>
            <a:srgbClr val="005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81847" y="2633472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Base de datos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1847" y="3090672"/>
            <a:ext cx="3017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MongoDB + PyMongo (documentos JSON/BSON)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29768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1">
                <a:solidFill>
                  <a:srgbClr val="C8A900"/>
                </a:solidFill>
                <a:latin typeface="Calibri"/>
              </a:rPr>
              <a:t>■  </a:t>
            </a:r>
            <a:r>
              <a:rPr sz="1600">
                <a:solidFill>
                  <a:srgbClr val="212121"/>
                </a:solidFill>
                <a:latin typeface="Calibri"/>
              </a:rPr>
              <a:t>MongoDB se ajusta a la naturaleza heterogénea de los datos de cada módulo, sin la rigidez de un esquema relacional fijo.</a:t>
            </a:r>
          </a:p>
          <a:p>
            <a:pPr algn="l">
              <a:spcAft>
                <a:spcPts val="1400"/>
              </a:spcAft>
            </a:pPr>
            <a:r>
              <a:rPr sz="1600" b="1">
                <a:solidFill>
                  <a:srgbClr val="C8A900"/>
                </a:solidFill>
                <a:latin typeface="Calibri"/>
              </a:rPr>
              <a:t>■  </a:t>
            </a:r>
            <a:r>
              <a:rPr sz="1600">
                <a:solidFill>
                  <a:srgbClr val="212121"/>
                </a:solidFill>
                <a:latin typeface="Calibri"/>
              </a:rPr>
              <a:t>Despliegue portable mediante Docker y Docker Compose; Gunicorn como servidor WSGI y Nginx como proxy inverso en producción.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FAMA — Foro de Apoyo Multipropósito de la Armada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8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Herramientas y tecnologías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274320"/>
            <a:ext cx="2194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C8A900"/>
                </a:solidFill>
                <a:latin typeface="Calibri"/>
              </a:rPr>
              <a:t>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3454298" cy="2331720"/>
          </a:xfrm>
          <a:prstGeom prst="rect">
            <a:avLst/>
          </a:prstGeom>
          <a:solidFill>
            <a:srgbClr val="F8F9FA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463040"/>
            <a:ext cx="109728" cy="2331720"/>
          </a:xfrm>
          <a:prstGeom prst="rect">
            <a:avLst/>
          </a:prstGeom>
          <a:solidFill>
            <a:srgbClr val="C8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27632"/>
            <a:ext cx="299709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03366"/>
                </a:solidFill>
                <a:latin typeface="Calibri"/>
              </a:rP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84832"/>
            <a:ext cx="299709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C8A900"/>
                </a:solidFill>
                <a:latin typeface="Calibri"/>
              </a:rPr>
              <a:t>■  </a:t>
            </a:r>
            <a:r>
              <a:rPr sz="1350">
                <a:solidFill>
                  <a:srgbClr val="212121"/>
                </a:solidFill>
                <a:latin typeface="Calibri"/>
              </a:rPr>
              <a:t>Python</a:t>
            </a:r>
          </a:p>
          <a:p>
            <a:pPr algn="l">
              <a:spcAft>
                <a:spcPts val="400"/>
              </a:spcAft>
            </a:pPr>
            <a:r>
              <a:rPr sz="1350" b="1">
                <a:solidFill>
                  <a:srgbClr val="C8A900"/>
                </a:solidFill>
                <a:latin typeface="Calibri"/>
              </a:rPr>
              <a:t>■  </a:t>
            </a:r>
            <a:r>
              <a:rPr sz="1350">
                <a:solidFill>
                  <a:srgbClr val="212121"/>
                </a:solidFill>
                <a:latin typeface="Calibri"/>
              </a:rPr>
              <a:t>Flask</a:t>
            </a:r>
          </a:p>
          <a:p>
            <a:pPr algn="l">
              <a:spcAft>
                <a:spcPts val="400"/>
              </a:spcAft>
            </a:pPr>
            <a:r>
              <a:rPr sz="1350" b="1">
                <a:solidFill>
                  <a:srgbClr val="C8A900"/>
                </a:solidFill>
                <a:latin typeface="Calibri"/>
              </a:rPr>
              <a:t>■  </a:t>
            </a:r>
            <a:r>
              <a:rPr sz="1350">
                <a:solidFill>
                  <a:srgbClr val="212121"/>
                </a:solidFill>
                <a:latin typeface="Calibri"/>
              </a:rPr>
              <a:t>Werkzeug</a:t>
            </a:r>
          </a:p>
          <a:p>
            <a:pPr algn="l">
              <a:spcAft>
                <a:spcPts val="400"/>
              </a:spcAft>
            </a:pPr>
            <a:r>
              <a:rPr sz="1350" b="1">
                <a:solidFill>
                  <a:srgbClr val="C8A900"/>
                </a:solidFill>
                <a:latin typeface="Calibri"/>
              </a:rPr>
              <a:t>■  </a:t>
            </a:r>
            <a:r>
              <a:rPr sz="1350">
                <a:solidFill>
                  <a:srgbClr val="212121"/>
                </a:solidFill>
                <a:latin typeface="Calibri"/>
              </a:rPr>
              <a:t>Gunicorn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8698" y="1463040"/>
            <a:ext cx="3454298" cy="2331720"/>
          </a:xfrm>
          <a:prstGeom prst="rect">
            <a:avLst/>
          </a:prstGeom>
          <a:solidFill>
            <a:srgbClr val="F8F9FA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68698" y="1463040"/>
            <a:ext cx="109728" cy="2331720"/>
          </a:xfrm>
          <a:prstGeom prst="rect">
            <a:avLst/>
          </a:prstGeom>
          <a:solidFill>
            <a:srgbClr val="C8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43018" y="1627632"/>
            <a:ext cx="299709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03366"/>
                </a:solidFill>
                <a:latin typeface="Calibri"/>
              </a:rPr>
              <a:t>Base de datos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3018" y="2084832"/>
            <a:ext cx="299709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C8A900"/>
                </a:solidFill>
                <a:latin typeface="Calibri"/>
              </a:rPr>
              <a:t>■  </a:t>
            </a:r>
            <a:r>
              <a:rPr sz="1350">
                <a:solidFill>
                  <a:srgbClr val="212121"/>
                </a:solidFill>
                <a:latin typeface="Calibri"/>
              </a:rPr>
              <a:t>MongoDB</a:t>
            </a:r>
          </a:p>
          <a:p>
            <a:pPr algn="l">
              <a:spcAft>
                <a:spcPts val="400"/>
              </a:spcAft>
            </a:pPr>
            <a:r>
              <a:rPr sz="1350" b="1">
                <a:solidFill>
                  <a:srgbClr val="C8A900"/>
                </a:solidFill>
                <a:latin typeface="Calibri"/>
              </a:rPr>
              <a:t>■  </a:t>
            </a:r>
            <a:r>
              <a:rPr sz="1350">
                <a:solidFill>
                  <a:srgbClr val="212121"/>
                </a:solidFill>
                <a:latin typeface="Calibri"/>
              </a:rPr>
              <a:t>PyMongo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7316" y="1463040"/>
            <a:ext cx="3454298" cy="2331720"/>
          </a:xfrm>
          <a:prstGeom prst="rect">
            <a:avLst/>
          </a:prstGeom>
          <a:solidFill>
            <a:srgbClr val="F8F9FA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7316" y="1463040"/>
            <a:ext cx="109728" cy="2331720"/>
          </a:xfrm>
          <a:prstGeom prst="rect">
            <a:avLst/>
          </a:prstGeom>
          <a:solidFill>
            <a:srgbClr val="C8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71636" y="1627632"/>
            <a:ext cx="299709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03366"/>
                </a:solidFill>
                <a:latin typeface="Calibri"/>
              </a:rPr>
              <a:t>Frontend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1636" y="2084832"/>
            <a:ext cx="299709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C8A900"/>
                </a:solidFill>
                <a:latin typeface="Calibri"/>
              </a:rPr>
              <a:t>■  </a:t>
            </a:r>
            <a:r>
              <a:rPr sz="1350">
                <a:solidFill>
                  <a:srgbClr val="212121"/>
                </a:solidFill>
                <a:latin typeface="Calibri"/>
              </a:rPr>
              <a:t>HTML5</a:t>
            </a:r>
          </a:p>
          <a:p>
            <a:pPr algn="l">
              <a:spcAft>
                <a:spcPts val="400"/>
              </a:spcAft>
            </a:pPr>
            <a:r>
              <a:rPr sz="1350" b="1">
                <a:solidFill>
                  <a:srgbClr val="C8A900"/>
                </a:solidFill>
                <a:latin typeface="Calibri"/>
              </a:rPr>
              <a:t>■  </a:t>
            </a:r>
            <a:r>
              <a:rPr sz="1350">
                <a:solidFill>
                  <a:srgbClr val="212121"/>
                </a:solidFill>
                <a:latin typeface="Calibri"/>
              </a:rPr>
              <a:t>Jinja2</a:t>
            </a:r>
          </a:p>
          <a:p>
            <a:pPr algn="l">
              <a:spcAft>
                <a:spcPts val="400"/>
              </a:spcAft>
            </a:pPr>
            <a:r>
              <a:rPr sz="1350" b="1">
                <a:solidFill>
                  <a:srgbClr val="C8A900"/>
                </a:solidFill>
                <a:latin typeface="Calibri"/>
              </a:rPr>
              <a:t>■  </a:t>
            </a:r>
            <a:r>
              <a:rPr sz="1350">
                <a:solidFill>
                  <a:srgbClr val="212121"/>
                </a:solidFill>
                <a:latin typeface="Calibri"/>
              </a:rPr>
              <a:t>Bootstrap 5</a:t>
            </a:r>
          </a:p>
          <a:p>
            <a:pPr algn="l">
              <a:spcAft>
                <a:spcPts val="400"/>
              </a:spcAft>
            </a:pPr>
            <a:r>
              <a:rPr sz="1350" b="1">
                <a:solidFill>
                  <a:srgbClr val="C8A900"/>
                </a:solidFill>
                <a:latin typeface="Calibri"/>
              </a:rPr>
              <a:t>■  </a:t>
            </a:r>
            <a:r>
              <a:rPr sz="1350">
                <a:solidFill>
                  <a:srgbClr val="212121"/>
                </a:solidFill>
                <a:latin typeface="Calibri"/>
              </a:rPr>
              <a:t>CSS / JavaScript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069080"/>
            <a:ext cx="3454298" cy="2331720"/>
          </a:xfrm>
          <a:prstGeom prst="rect">
            <a:avLst/>
          </a:prstGeom>
          <a:solidFill>
            <a:srgbClr val="F8F9FA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4069080"/>
            <a:ext cx="109728" cy="2331720"/>
          </a:xfrm>
          <a:prstGeom prst="rect">
            <a:avLst/>
          </a:prstGeom>
          <a:solidFill>
            <a:srgbClr val="C8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233672"/>
            <a:ext cx="299709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03366"/>
                </a:solidFill>
                <a:latin typeface="Calibri"/>
              </a:rPr>
              <a:t>Informes y documentos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690872"/>
            <a:ext cx="299709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C8A900"/>
                </a:solidFill>
                <a:latin typeface="Calibri"/>
              </a:rPr>
              <a:t>■  </a:t>
            </a:r>
            <a:r>
              <a:rPr sz="1350">
                <a:solidFill>
                  <a:srgbClr val="212121"/>
                </a:solidFill>
                <a:latin typeface="Calibri"/>
              </a:rPr>
              <a:t>ReportLab (PDF)</a:t>
            </a:r>
          </a:p>
          <a:p>
            <a:pPr algn="l">
              <a:spcAft>
                <a:spcPts val="400"/>
              </a:spcAft>
            </a:pPr>
            <a:r>
              <a:rPr sz="1350" b="1">
                <a:solidFill>
                  <a:srgbClr val="C8A900"/>
                </a:solidFill>
                <a:latin typeface="Calibri"/>
              </a:rPr>
              <a:t>■  </a:t>
            </a:r>
            <a:r>
              <a:rPr sz="1350">
                <a:solidFill>
                  <a:srgbClr val="212121"/>
                </a:solidFill>
                <a:latin typeface="Calibri"/>
              </a:rPr>
              <a:t>python-docx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68698" y="4069080"/>
            <a:ext cx="3454298" cy="2331720"/>
          </a:xfrm>
          <a:prstGeom prst="rect">
            <a:avLst/>
          </a:prstGeom>
          <a:solidFill>
            <a:srgbClr val="F8F9FA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68698" y="4069080"/>
            <a:ext cx="109728" cy="2331720"/>
          </a:xfrm>
          <a:prstGeom prst="rect">
            <a:avLst/>
          </a:prstGeom>
          <a:solidFill>
            <a:srgbClr val="C8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43018" y="4233672"/>
            <a:ext cx="299709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03366"/>
                </a:solidFill>
                <a:latin typeface="Calibri"/>
              </a:rPr>
              <a:t>Despliegue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43018" y="4690872"/>
            <a:ext cx="299709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C8A900"/>
                </a:solidFill>
                <a:latin typeface="Calibri"/>
              </a:rPr>
              <a:t>■  </a:t>
            </a:r>
            <a:r>
              <a:rPr sz="1350">
                <a:solidFill>
                  <a:srgbClr val="212121"/>
                </a:solidFill>
                <a:latin typeface="Calibri"/>
              </a:rPr>
              <a:t>Docker</a:t>
            </a:r>
          </a:p>
          <a:p>
            <a:pPr algn="l">
              <a:spcAft>
                <a:spcPts val="400"/>
              </a:spcAft>
            </a:pPr>
            <a:r>
              <a:rPr sz="1350" b="1">
                <a:solidFill>
                  <a:srgbClr val="C8A900"/>
                </a:solidFill>
                <a:latin typeface="Calibri"/>
              </a:rPr>
              <a:t>■  </a:t>
            </a:r>
            <a:r>
              <a:rPr sz="1350">
                <a:solidFill>
                  <a:srgbClr val="212121"/>
                </a:solidFill>
                <a:latin typeface="Calibri"/>
              </a:rPr>
              <a:t>Docker Compose</a:t>
            </a:r>
          </a:p>
          <a:p>
            <a:pPr algn="l">
              <a:spcAft>
                <a:spcPts val="400"/>
              </a:spcAft>
            </a:pPr>
            <a:r>
              <a:rPr sz="1350" b="1">
                <a:solidFill>
                  <a:srgbClr val="C8A900"/>
                </a:solidFill>
                <a:latin typeface="Calibri"/>
              </a:rPr>
              <a:t>■  </a:t>
            </a:r>
            <a:r>
              <a:rPr sz="1350">
                <a:solidFill>
                  <a:srgbClr val="212121"/>
                </a:solidFill>
                <a:latin typeface="Calibri"/>
              </a:rPr>
              <a:t>Nginx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97316" y="4069080"/>
            <a:ext cx="3454298" cy="2331720"/>
          </a:xfrm>
          <a:prstGeom prst="rect">
            <a:avLst/>
          </a:prstGeom>
          <a:solidFill>
            <a:srgbClr val="F8F9FA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97316" y="4069080"/>
            <a:ext cx="109728" cy="2331720"/>
          </a:xfrm>
          <a:prstGeom prst="rect">
            <a:avLst/>
          </a:prstGeom>
          <a:solidFill>
            <a:srgbClr val="C8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71636" y="4233672"/>
            <a:ext cx="299709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03366"/>
                </a:solidFill>
                <a:latin typeface="Calibri"/>
              </a:rPr>
              <a:t>Control de versiones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71636" y="4690872"/>
            <a:ext cx="299709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C8A900"/>
                </a:solidFill>
                <a:latin typeface="Calibri"/>
              </a:rPr>
              <a:t>■  </a:t>
            </a:r>
            <a:r>
              <a:rPr sz="1350">
                <a:solidFill>
                  <a:srgbClr val="212121"/>
                </a:solidFill>
                <a:latin typeface="Calibri"/>
              </a:rPr>
              <a:t>Git</a:t>
            </a:r>
          </a:p>
          <a:p>
            <a:pPr algn="l">
              <a:spcAft>
                <a:spcPts val="400"/>
              </a:spcAft>
            </a:pPr>
            <a:r>
              <a:rPr sz="1350" b="1">
                <a:solidFill>
                  <a:srgbClr val="C8A900"/>
                </a:solidFill>
                <a:latin typeface="Calibri"/>
              </a:rPr>
              <a:t>■  </a:t>
            </a:r>
            <a:r>
              <a:rPr sz="1350">
                <a:solidFill>
                  <a:srgbClr val="212121"/>
                </a:solidFill>
                <a:latin typeface="Calibri"/>
              </a:rPr>
              <a:t>GitHub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FAMA — Foro de Apoyo Multipropósito de la Armada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8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Hoja de ruta futura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274320"/>
            <a:ext cx="2194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C8A900"/>
                </a:solidFill>
                <a:latin typeface="Calibri"/>
              </a:rPr>
              <a:t>PRÓXIMOS PASOS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881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600"/>
              </a:spcAft>
            </a:pPr>
            <a:r>
              <a:rPr sz="2000" b="1">
                <a:solidFill>
                  <a:srgbClr val="C8A900"/>
                </a:solidFill>
                <a:latin typeface="Calibri"/>
              </a:rPr>
              <a:t>■  </a:t>
            </a:r>
            <a:r>
              <a:rPr sz="2000">
                <a:solidFill>
                  <a:srgbClr val="212121"/>
                </a:solidFill>
                <a:latin typeface="Calibri"/>
              </a:rPr>
              <a:t>Integración con DICODEF: autenticación corporativa automática, sin validación manual del administrador.</a:t>
            </a:r>
          </a:p>
          <a:p>
            <a:pPr algn="l">
              <a:spcAft>
                <a:spcPts val="2600"/>
              </a:spcAft>
            </a:pPr>
            <a:r>
              <a:rPr sz="2000" b="1">
                <a:solidFill>
                  <a:srgbClr val="C8A900"/>
                </a:solidFill>
                <a:latin typeface="Calibri"/>
              </a:rPr>
              <a:t>■  </a:t>
            </a:r>
            <a:r>
              <a:rPr sz="2000">
                <a:solidFill>
                  <a:srgbClr val="212121"/>
                </a:solidFill>
                <a:latin typeface="Calibri"/>
              </a:rPr>
              <a:t>Extensión a Internet con credenciales DICODEF, siguiendo el modelo de CVCDEF (dominio, TLS, DMZ, MFA, auditoría ENS).</a:t>
            </a:r>
          </a:p>
          <a:p>
            <a:pPr algn="l">
              <a:spcAft>
                <a:spcPts val="2600"/>
              </a:spcAft>
            </a:pPr>
            <a:r>
              <a:rPr sz="2000" b="1">
                <a:solidFill>
                  <a:srgbClr val="C8A900"/>
                </a:solidFill>
                <a:latin typeface="Calibri"/>
              </a:rPr>
              <a:t>■  </a:t>
            </a:r>
            <a:r>
              <a:rPr sz="2000">
                <a:solidFill>
                  <a:srgbClr val="212121"/>
                </a:solidFill>
                <a:latin typeface="Calibri"/>
              </a:rPr>
              <a:t>Aplicación móvil nativa para Android e iOS.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FAMA — Foro de Apoyo Multipropósito de la Armada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8888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C8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2651760"/>
            <a:ext cx="121916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 i="0">
                <a:solidFill>
                  <a:srgbClr val="FFFFFF"/>
                </a:solidFill>
                <a:latin typeface="Calibri"/>
              </a:rPr>
              <a:t>Gracias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520440"/>
            <a:ext cx="12191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C8A900"/>
                </a:solidFill>
                <a:latin typeface="Calibri"/>
              </a:rPr>
              <a:t>¿Preguntas?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12648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CCD6E4"/>
                </a:solidFill>
                <a:latin typeface="Calibri"/>
              </a:rPr>
              <a:t>FAMA — Foro de Apoyo Multipropósito de la Armada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644</Words>
  <Application>Microsoft Office PowerPoint</Application>
  <PresentationFormat>Panorámica</PresentationFormat>
  <Paragraphs>105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Hugo Ondicol Aragonés</cp:lastModifiedBy>
  <cp:revision>2</cp:revision>
  <dcterms:created xsi:type="dcterms:W3CDTF">2013-01-27T09:14:16Z</dcterms:created>
  <dcterms:modified xsi:type="dcterms:W3CDTF">2026-06-16T08:32:28Z</dcterms:modified>
  <cp:category/>
</cp:coreProperties>
</file>